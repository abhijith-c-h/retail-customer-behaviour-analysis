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oboto Mono Medium"/>
      <p:regular r:id="rId17"/>
    </p:embeddedFont>
    <p:embeddedFont>
      <p:font typeface="Roboto Mono Medium"/>
      <p:regular r:id="rId18"/>
    </p:embeddedFont>
    <p:embeddedFont>
      <p:font typeface="Roboto Mono Medium"/>
      <p:regular r:id="rId19"/>
    </p:embeddedFont>
    <p:embeddedFont>
      <p:font typeface="Roboto Mono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data-driven approach to understanding customer behavior and optimizing retail strategy across demographics, product categories, and channels.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802844"/>
            <a:ext cx="61243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Business Challenge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285178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leading retail company seeks to unlock deeper insights from customer shopping patterns across multiple dimensions. The organization needs to transform raw transaction data into strategic intelligence that drives growth.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43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Central Question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533804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can we leverage consumer shopping data to identify meaningful trends, improve customer engagement, and optimize marketing and product strategies?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112279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Project Objectives &amp; Deliverables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404040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CFF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45914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Preparation &amp; Modeling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Python-based data cleaning, imputation, and feature engineering to create a robust analytical dataset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404040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CFF5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Analysis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queries in PostgreSQL to extract targeted insights across customer segments and behaviors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404040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CFF5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40812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Visualization &amp; Insights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Power BI dashboard with KPIs, trends, and segmentation analysis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404040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CFF5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Strategic Report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findings and actionable recommendations for business stakeholders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3269"/>
            <a:ext cx="112279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Methodology: Python Data Cleaning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9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Foundation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5016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Loaded 3,900-record dataset with comprehensive customer transaction history including demographics, product details, purchase patterns, and engagement metrics.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65690"/>
            <a:ext cx="3401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Quality Enhancements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146834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Imputed missing review ratings using category median values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 column names to snake_case convention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redundant columns and validated data integrity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669024"/>
            <a:ext cx="3230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2501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strategic new variables to enable deeper analysis: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817144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Age_group categorization (Young, Middle, Senior)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Purchase_frequency_days calculation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loyalty segmentation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6851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Cleaned data loaded directly to PostgreSQL customer table for downstream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119085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Methodology: SQL Analysis Framework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4196358" cy="3048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Revenue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Gender, subscription status, and age group revenue contribution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6700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2044"/>
            <a:ext cx="4196358" cy="3048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Discount Impact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Purchase behavior and spending patterns with promotional offers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6700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2044"/>
            <a:ext cx="4196358" cy="3048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196352"/>
            <a:ext cx="3230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Product Performance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products by review rating and discount percentage utilization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38763"/>
            <a:ext cx="3401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Loyalty Segmentation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classification based on purchase frequency and engagement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338763"/>
            <a:ext cx="3230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Shipping Comparison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vs. standard shipping impact on purchase amounts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0288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Methodology: Power BI Dashboard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2786539"/>
            <a:ext cx="3664744" cy="2456617"/>
          </a:xfrm>
          <a:prstGeom prst="roundRect">
            <a:avLst>
              <a:gd name="adj" fmla="val 1385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7484" y="3043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Connection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37484" y="3534251"/>
            <a:ext cx="31501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live connection to PostgreSQL database ensuring real-time data synchronization and accuracy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2786539"/>
            <a:ext cx="3664863" cy="2456617"/>
          </a:xfrm>
          <a:prstGeom prst="roundRect">
            <a:avLst>
              <a:gd name="adj" fmla="val 1385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9042" y="3043833"/>
            <a:ext cx="306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Interactive Design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429042" y="3534251"/>
            <a:ext cx="31502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dynamic dashboard with KPI cards, trend charts, bar graphs, and slicers for user-driven exploration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5469969"/>
            <a:ext cx="7556421" cy="1730812"/>
          </a:xfrm>
          <a:prstGeom prst="roundRect">
            <a:avLst>
              <a:gd name="adj" fmla="val 1966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484" y="5727263"/>
            <a:ext cx="306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Visualizations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37484" y="6217682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trends over time, demographic breakdowns, category performance, discount analysis, and loyalty segmentation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8136"/>
            <a:ext cx="122486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Insights: Revenue &amp; Demographics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9042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2.3x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02506" y="4422219"/>
            <a:ext cx="37411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Male Revenue Advantage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91263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 significantly higher total revenue compared to female shoppers across all product categories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39042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45%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614630" y="4422219"/>
            <a:ext cx="3401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Subscription Premium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91263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Subscribed customers demonstrate 45% higher average spend and contribute substantially more to total revenue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39042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68%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4222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Prime Age Groups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91263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Middle-aged and Senior segments drive 68% of total revenue, indicating strong purchasing power in these demographics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921912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Insights: Discounts &amp; Products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43205" y="3104674"/>
            <a:ext cx="3659624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Strategic Discount Patterns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543205" y="3531037"/>
            <a:ext cx="6015395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percentage of purchases involve discounted products, particularly in electronics and apparel categories. Analysis reveals that discounted customers often spend above average, suggesting promotions effectively drive basket size.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43205" y="4714161"/>
            <a:ext cx="311741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Top Performing Products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43205" y="5140523"/>
            <a:ext cx="6015395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top 5 products by average review rating above 4.5 stars, demonstrating strong customer satisfaction. These products represent opportunities for featured placement and cross-selling strategies.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4795"/>
            <a:ext cx="108877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Insights: Loyalty &amp; Shipping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77202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072658"/>
            <a:ext cx="28908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Loyalty Dominance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56307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customers classified as "Returning" or "Loyal" with repeat purchase behavior, indicating strong brand affinity and satisfaction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377202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072658"/>
            <a:ext cx="3401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Repeat Purchase Link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56307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with more than 5 previous purchases show 60% higher subscription conversion rate, suggesting loyalty program opportunities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377202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072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Shipping Value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56307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shipping customers demonstrate 28% higher average purchase amounts, supporting premium shipping for high-value orders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555784"/>
            <a:ext cx="969561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Strategic Recommendations &amp; Next Steps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014" y="1342549"/>
            <a:ext cx="850583" cy="10207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4113" y="1512570"/>
            <a:ext cx="306097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Premium Loyalty Programs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424113" y="1854756"/>
            <a:ext cx="1076015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male and subscribed customers with exclusive benefits, early access, and personalized rewards to maximize lifetime value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14" y="2363272"/>
            <a:ext cx="850583" cy="10207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24113" y="2533293"/>
            <a:ext cx="306097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Product-Based Promotions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2424113" y="2875478"/>
            <a:ext cx="1076015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targeted campaigns on high-review and high-discount products to capitalize on proven purchase drivers and satisfaction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3383994"/>
            <a:ext cx="850583" cy="10207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24113" y="3554016"/>
            <a:ext cx="267831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Age-Segment Marketing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2424113" y="3896201"/>
            <a:ext cx="1076015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advertising and messaging on Middle-aged and Senior segments through channels and offers that resonate with these demographics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14" y="4404717"/>
            <a:ext cx="850583" cy="10207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24113" y="4574738"/>
            <a:ext cx="331601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Repeat Purchase Incentives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2424113" y="4916924"/>
            <a:ext cx="1076015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Encourage repeat purchases with personalized offers, email campaigns, and loyalty points specifically for customers with 3-5 purchases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6014" y="5425440"/>
            <a:ext cx="850583" cy="10207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424113" y="5595461"/>
            <a:ext cx="369867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Express Shipping Optimization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2424113" y="5937647"/>
            <a:ext cx="1076015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express shipping for higher-value orders and consider tiered pricing to maximize profitability while meeting customer expectations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1446014" y="6589633"/>
            <a:ext cx="11738253" cy="1084183"/>
          </a:xfrm>
          <a:prstGeom prst="roundRect">
            <a:avLst>
              <a:gd name="adj" fmla="val 2354"/>
            </a:avLst>
          </a:prstGeom>
          <a:solidFill>
            <a:srgbClr val="183A1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6035" y="6828592"/>
            <a:ext cx="212646" cy="17002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998702" y="6759654"/>
            <a:ext cx="1101554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This end-to-end analysis—from Python data preparation through SQL analysis to Power BI visualization—delivers actionable insights to boost sales, enhance customer engagement, and build long-term loyalty. The framework is scalable and can be extended to incorporate additional data sources and predictive modeling.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2026-04-20T07:56:16Z</dcterms:created>
  <dcterms:modified xsi:type="dcterms:W3CDTF">2026-04-20T07:56:16Z</dcterms:modified>
</cp:coreProperties>
</file>